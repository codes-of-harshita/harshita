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2" r:id="rId4"/>
  </p:sldMasterIdLst>
  <p:notesMasterIdLst>
    <p:notesMasterId r:id="rId15"/>
  </p:notesMasterIdLst>
  <p:handoutMasterIdLst>
    <p:handoutMasterId r:id="rId16"/>
  </p:handoutMasterIdLst>
  <p:sldIdLst>
    <p:sldId id="274" r:id="rId5"/>
    <p:sldId id="262" r:id="rId6"/>
    <p:sldId id="265" r:id="rId7"/>
    <p:sldId id="263" r:id="rId8"/>
    <p:sldId id="264" r:id="rId9"/>
    <p:sldId id="271" r:id="rId10"/>
    <p:sldId id="267" r:id="rId11"/>
    <p:sldId id="272" r:id="rId12"/>
    <p:sldId id="269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AB900"/>
    <a:srgbClr val="000000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7CE84F3-28C3-443E-9E96-99CF82512B7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2" autoAdjust="0"/>
    <p:restoredTop sz="94703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76E33EC2-9EC5-4E10-9144-86E86613D3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6F9F941-E752-4BD2-BA91-874CE8E1C0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DD978-A294-4268-829C-55C7EB5D9910}" type="datetimeFigureOut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77F5445-1C7B-4CE5-97AA-11FE3B0D1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639B5BE-3C96-4779-BAFC-FA6CC51DA2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CA8D4-27C8-4D41-90BD-AED8D47A3C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0471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E9404-0252-4823-AD24-A092A5EE9433}" type="datetimeFigureOut">
              <a:rPr lang="en-US" smtClean="0"/>
              <a:t>8/26/2025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972E0-5198-46C6-8EFE-44A646AD96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91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template for students to design a field trip to a location for other students to view. Includes directions to the student of what to include on each slide and what content should be considered.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972E0-5198-46C6-8EFE-44A646AD96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345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example, Astoria</a:t>
            </a:r>
            <a:r>
              <a:rPr lang="en-US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Oregon is a town on the Oregon coast well know for its starring role in the movie “The Goonies”.  Today, we will take a trip from our school to Astoria through miles and time…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972E0-5198-46C6-8EFE-44A646AD96E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71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use this type of slide for text, images, shapes and tables</a:t>
            </a:r>
            <a:r>
              <a:rPr lang="en-US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help add information in a different way.  Duplicate this slide to add additional images of important location in your visit.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972E0-5198-46C6-8EFE-44A646AD96E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121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use this type of slide for text, images, shapes and tables</a:t>
            </a:r>
            <a:r>
              <a:rPr lang="en-US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help add information in a different way.  Duplicate this slide to add additional images of important location in your visit.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972E0-5198-46C6-8EFE-44A646AD96E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836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F972E0-5198-46C6-8EFE-44A646AD96E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096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386F08-408F-4BD2-A5F9-1FF72E18D3C3}" type="datetimeFigureOut">
              <a:rPr lang="en-US" noProof="0" smtClean="0"/>
              <a:pPr/>
              <a:t>8/26/2025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F0A33C-B6D6-454E-A4EA-5198AC78DEE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="" xmlns:a16="http://schemas.microsoft.com/office/drawing/2014/main" id="{B941F392-55E3-4875-A0A8-7C2B611343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65359" y="599983"/>
            <a:ext cx="638175" cy="5397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buNone/>
              <a:defRPr sz="2800">
                <a:solidFill>
                  <a:schemeClr val="bg1"/>
                </a:solidFill>
              </a:defRPr>
            </a:lvl2pPr>
            <a:lvl3pPr marL="457200" indent="0" algn="ctr">
              <a:buNone/>
              <a:defRPr sz="2800">
                <a:solidFill>
                  <a:schemeClr val="bg1"/>
                </a:solidFill>
              </a:defRPr>
            </a:lvl3pPr>
            <a:lvl4pPr marL="685800" indent="0" algn="ctr">
              <a:buNone/>
              <a:defRPr sz="2800">
                <a:solidFill>
                  <a:schemeClr val="bg1"/>
                </a:solidFill>
              </a:defRPr>
            </a:lvl4pPr>
            <a:lvl5pPr marL="914400" indent="0" algn="ctr">
              <a:buNone/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="" xmlns:a16="http://schemas.microsoft.com/office/drawing/2014/main" id="{792D370F-01D2-4F21-BE9F-9951674A65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05594" y="1242501"/>
            <a:ext cx="638175" cy="5397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buNone/>
              <a:defRPr sz="2800">
                <a:solidFill>
                  <a:schemeClr val="bg1"/>
                </a:solidFill>
              </a:defRPr>
            </a:lvl2pPr>
            <a:lvl3pPr marL="457200" indent="0" algn="ctr">
              <a:buNone/>
              <a:defRPr sz="2800">
                <a:solidFill>
                  <a:schemeClr val="bg1"/>
                </a:solidFill>
              </a:defRPr>
            </a:lvl3pPr>
            <a:lvl4pPr marL="685800" indent="0" algn="ctr">
              <a:buNone/>
              <a:defRPr sz="2800">
                <a:solidFill>
                  <a:schemeClr val="bg1"/>
                </a:solidFill>
              </a:defRPr>
            </a:lvl4pPr>
            <a:lvl5pPr marL="914400" indent="0" algn="ctr">
              <a:buNone/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="" xmlns:a16="http://schemas.microsoft.com/office/drawing/2014/main" id="{F0D26AC6-BA38-4193-A559-922728758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65359" y="1885019"/>
            <a:ext cx="638175" cy="5397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buNone/>
              <a:defRPr sz="2800"/>
            </a:lvl2pPr>
            <a:lvl3pPr marL="457200" indent="0" algn="ctr">
              <a:buNone/>
              <a:defRPr sz="2800"/>
            </a:lvl3pPr>
            <a:lvl4pPr marL="685800" indent="0" algn="ctr">
              <a:buNone/>
              <a:defRPr sz="2800"/>
            </a:lvl4pPr>
            <a:lvl5pPr marL="914400" indent="0" algn="ctr">
              <a:buNone/>
              <a:defRPr sz="2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="" xmlns:a16="http://schemas.microsoft.com/office/drawing/2014/main" id="{E8BC1B5E-B477-4CD0-996D-5614FE4B3F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27184" y="1238157"/>
            <a:ext cx="638175" cy="5397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buNone/>
              <a:defRPr sz="2800"/>
            </a:lvl2pPr>
            <a:lvl3pPr marL="457200" indent="0" algn="ctr">
              <a:buNone/>
              <a:defRPr sz="2800"/>
            </a:lvl3pPr>
            <a:lvl4pPr marL="685800" indent="0" algn="ctr">
              <a:buNone/>
              <a:defRPr sz="2800"/>
            </a:lvl4pPr>
            <a:lvl5pPr marL="914400" indent="0" algn="ctr">
              <a:buNone/>
              <a:defRPr sz="2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blackWhite">
          <a:xfrm>
            <a:off x="4311650" y="1512376"/>
            <a:ext cx="3568700" cy="1809943"/>
          </a:xfrm>
          <a:noFill/>
          <a:ln w="38100">
            <a:noFill/>
          </a:ln>
        </p:spPr>
        <p:txBody>
          <a:bodyPr lIns="274320" rIns="274320" anchor="ctr" anchorCtr="0">
            <a:normAutofit/>
          </a:bodyPr>
          <a:lstStyle>
            <a:lvl1pPr algn="ctr">
              <a:defRPr sz="3800" cap="none" baseline="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11650" y="3322319"/>
            <a:ext cx="3568700" cy="2023304"/>
          </a:xfrm>
          <a:noFill/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15302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88624" y="594360"/>
            <a:ext cx="10893775" cy="1962150"/>
          </a:xfrm>
          <a:noFill/>
          <a:ln w="38100">
            <a:solidFill>
              <a:schemeClr val="bg1"/>
            </a:solidFill>
          </a:ln>
        </p:spPr>
        <p:txBody>
          <a:bodyPr lIns="72000" tIns="72000" rIns="72000" bIns="72000" anchor="t" anchorCtr="0">
            <a:normAutofit/>
          </a:bodyPr>
          <a:lstStyle>
            <a:lvl1pPr algn="l">
              <a:defRPr sz="4000" cap="none" spc="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9108" y="2084071"/>
            <a:ext cx="10883292" cy="3501154"/>
          </a:xfrm>
        </p:spPr>
        <p:txBody>
          <a:bodyPr numCol="2" spcCol="108000">
            <a:normAutofit/>
          </a:bodyPr>
          <a:lstStyle>
            <a:lvl1pPr marL="228600" indent="-228600" algn="l"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-228600" algn="l"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2">
                    <a:lumMod val="50000"/>
                  </a:schemeClr>
                </a:solidFill>
              </a:defRPr>
            </a:lvl2pPr>
            <a:lvl3pPr marL="685800" indent="-228600" algn="l"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2">
                    <a:lumMod val="50000"/>
                  </a:schemeClr>
                </a:solidFill>
              </a:defRPr>
            </a:lvl3pPr>
            <a:lvl4pPr marL="914400" indent="-228600" algn="l"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2">
                    <a:lumMod val="50000"/>
                  </a:schemeClr>
                </a:solidFill>
              </a:defRPr>
            </a:lvl4pPr>
            <a:lvl5pPr marL="1143000" indent="-228600" algn="l"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56090" y="6234888"/>
            <a:ext cx="2025832" cy="323968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38386F08-408F-4BD2-A5F9-1FF72E18D3C3}" type="datetimeFigureOut">
              <a:rPr lang="en-US" noProof="0" smtClean="0"/>
              <a:pPr/>
              <a:t>8/26/2025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895599" y="6238816"/>
            <a:ext cx="4229101" cy="320040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916161" y="5804577"/>
            <a:ext cx="365760" cy="365760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42F0A33C-B6D6-454E-A4EA-5198AC78DEE3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DC5B8FA8-6A22-40E7-B3E9-A963C93B51FA}"/>
              </a:ext>
            </a:extLst>
          </p:cNvPr>
          <p:cNvSpPr/>
          <p:nvPr userDrawn="1"/>
        </p:nvSpPr>
        <p:spPr>
          <a:xfrm>
            <a:off x="-15240" y="2"/>
            <a:ext cx="365760" cy="687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820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Three Images">
    <p:bg bwMode="black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5B634A45-4F6E-4E7E-A6D7-E30CC149DF79}"/>
              </a:ext>
            </a:extLst>
          </p:cNvPr>
          <p:cNvSpPr/>
          <p:nvPr userDrawn="1"/>
        </p:nvSpPr>
        <p:spPr>
          <a:xfrm>
            <a:off x="0" y="2423160"/>
            <a:ext cx="12192000" cy="443912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="" xmlns:a16="http://schemas.microsoft.com/office/drawing/2014/main" id="{3A725127-1EDA-41FB-9345-CD609971402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479" y="2952166"/>
            <a:ext cx="2880000" cy="2880000"/>
          </a:xfrm>
          <a:ln w="38100">
            <a:solidFill>
              <a:srgbClr val="FFFFFF"/>
            </a:solidFill>
          </a:ln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5" name="Picture Placeholder 6">
            <a:extLst>
              <a:ext uri="{FF2B5EF4-FFF2-40B4-BE49-F238E27FC236}">
                <a16:creationId xmlns="" xmlns:a16="http://schemas.microsoft.com/office/drawing/2014/main" id="{45910403-693E-46B1-890E-692928E72B7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488521" y="2952166"/>
            <a:ext cx="2880000" cy="2880000"/>
          </a:xfrm>
          <a:ln w="38100">
            <a:solidFill>
              <a:srgbClr val="FFFFFF"/>
            </a:solidFill>
          </a:ln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5309" y="6238816"/>
            <a:ext cx="2753746" cy="323968"/>
          </a:xfrm>
        </p:spPr>
        <p:txBody>
          <a:bodyPr/>
          <a:lstStyle/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" y="6238816"/>
            <a:ext cx="5901189" cy="320040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22802" y="6217920"/>
            <a:ext cx="365760" cy="365760"/>
          </a:xfrm>
        </p:spPr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344A571C-BD72-4598-B89C-F24CC99E0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07747" y="289559"/>
            <a:ext cx="10564350" cy="1127761"/>
          </a:xfrm>
          <a:noFill/>
          <a:ln>
            <a:noFill/>
          </a:ln>
        </p:spPr>
        <p:txBody>
          <a:bodyPr anchor="b" anchorCtr="1"/>
          <a:lstStyle>
            <a:lvl1pPr>
              <a:defRPr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="" xmlns:a16="http://schemas.microsoft.com/office/drawing/2014/main" id="{6759A834-A403-4050-9F3D-ABDDC9182E9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6000" y="2952166"/>
            <a:ext cx="2880000" cy="2880000"/>
          </a:xfrm>
          <a:ln w="38100">
            <a:solidFill>
              <a:srgbClr val="FFFFFF"/>
            </a:solidFill>
          </a:ln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="" xmlns:a16="http://schemas.microsoft.com/office/drawing/2014/main" id="{B0AC4720-7B75-40C4-BE31-CB8EBA0AAF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7720" y="1493521"/>
            <a:ext cx="10561319" cy="1127762"/>
          </a:xfrm>
          <a:noFill/>
        </p:spPr>
        <p:txBody>
          <a:bodyPr anchor="t" anchorCtr="1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/>
            </a:lvl1pPr>
            <a:lvl2pPr marL="228600" indent="0" algn="ctr">
              <a:buNone/>
              <a:defRPr sz="20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2000"/>
            </a:lvl4pPr>
            <a:lvl5pPr marL="914400" indent="0" algn="ctr">
              <a:buNone/>
              <a:defRPr sz="20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9950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Slid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5B1E50CE-2A10-414D-A44D-9CE008E33B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0" y="0"/>
            <a:ext cx="12192000" cy="6858000"/>
          </a:xfrm>
          <a:solidFill>
            <a:schemeClr val="tx1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2BFBB01-2158-40AB-B652-ED00805909B1}"/>
              </a:ext>
            </a:extLst>
          </p:cNvPr>
          <p:cNvSpPr/>
          <p:nvPr userDrawn="1"/>
        </p:nvSpPr>
        <p:spPr>
          <a:xfrm rot="5400000">
            <a:off x="5657999" y="340659"/>
            <a:ext cx="864000" cy="122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fld id="{38386F08-408F-4BD2-A5F9-1FF72E18D3C3}" type="datetimeFigureOut">
              <a:rPr lang="en-US" noProof="0" smtClean="0"/>
              <a:pPr/>
              <a:t>8/26/2025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1855" y="6236208"/>
            <a:ext cx="5901189" cy="320040"/>
          </a:xfrm>
        </p:spPr>
        <p:txBody>
          <a:bodyPr/>
          <a:lstStyle>
            <a:lvl1pPr>
              <a:defRPr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29A01CDD-F399-4646-90ED-E57A0E6099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748789" y="246231"/>
            <a:ext cx="3787891" cy="957729"/>
          </a:xfrm>
          <a:noFill/>
          <a:ln>
            <a:noFill/>
          </a:ln>
        </p:spPr>
        <p:txBody>
          <a:bodyPr anchor="b" anchorCtr="0">
            <a:normAutofit/>
          </a:bodyPr>
          <a:lstStyle>
            <a:lvl1pPr algn="r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C452D643-DA50-4240-9810-A9BBB97288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92439" y="1343510"/>
            <a:ext cx="3383905" cy="4472513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228600" indent="0" algn="r">
              <a:buNone/>
              <a:defRPr sz="2000">
                <a:solidFill>
                  <a:schemeClr val="bg1"/>
                </a:solidFill>
              </a:defRPr>
            </a:lvl2pPr>
            <a:lvl3pPr marL="457200" indent="0" algn="r">
              <a:buNone/>
              <a:defRPr sz="2000">
                <a:solidFill>
                  <a:schemeClr val="bg1"/>
                </a:solidFill>
              </a:defRPr>
            </a:lvl3pPr>
            <a:lvl4pPr marL="685800" indent="0" algn="r">
              <a:buNone/>
              <a:defRPr sz="2000">
                <a:solidFill>
                  <a:schemeClr val="bg1"/>
                </a:solidFill>
              </a:defRPr>
            </a:lvl4pPr>
            <a:lvl5pPr marL="914400" indent="0" algn="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591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883920" y="592183"/>
            <a:ext cx="5750440" cy="1810379"/>
          </a:xfrm>
          <a:noFill/>
          <a:ln>
            <a:noFill/>
          </a:ln>
        </p:spPr>
        <p:txBody>
          <a:bodyPr lIns="0" anchor="t" anchorCtr="0">
            <a:noAutofit/>
          </a:bodyPr>
          <a:lstStyle>
            <a:lvl1pPr marL="0" indent="0" algn="l" defTabSz="0">
              <a:buFont typeface="Arial" panose="020B0604020202020204" pitchFamily="34" charset="0"/>
              <a:buNone/>
              <a:defRPr sz="40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97200" y="0"/>
            <a:ext cx="5700896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 bwMode="white">
          <a:xfrm>
            <a:off x="632071" y="2417802"/>
            <a:ext cx="5297398" cy="3710855"/>
          </a:xfrm>
        </p:spPr>
        <p:txBody>
          <a:bodyPr anchor="t" anchorCtr="1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1309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C226BE6-63BD-4193-A5B9-87DBDF176AB9}"/>
              </a:ext>
            </a:extLst>
          </p:cNvPr>
          <p:cNvSpPr/>
          <p:nvPr userDrawn="1"/>
        </p:nvSpPr>
        <p:spPr>
          <a:xfrm rot="5400000">
            <a:off x="5712000" y="-5718344"/>
            <a:ext cx="756000" cy="122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4175220" y="3508040"/>
            <a:ext cx="3841560" cy="3420000"/>
          </a:xfrm>
          <a:noFill/>
          <a:ln>
            <a:noFill/>
          </a:ln>
        </p:spPr>
        <p:txBody>
          <a:bodyPr anchor="ctr" anchorCtr="1">
            <a:noAutofit/>
          </a:bodyPr>
          <a:lstStyle>
            <a:lvl1pPr algn="l">
              <a:defRPr sz="2400" cap="none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04860" y="1005840"/>
            <a:ext cx="3497580" cy="5593080"/>
          </a:xfrm>
        </p:spPr>
        <p:txBody>
          <a:bodyPr anchor="t" anchorCtr="0">
            <a:normAutofit/>
          </a:bodyPr>
          <a:lstStyle>
            <a:lvl1pPr marL="285750" indent="-285750" algn="l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629149" y="6254056"/>
            <a:ext cx="2753746" cy="323968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0175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1566642" y="6233160"/>
            <a:ext cx="365760" cy="365760"/>
          </a:xfrm>
        </p:spPr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="" xmlns:a16="http://schemas.microsoft.com/office/drawing/2014/main" id="{A010B646-69BD-42FF-80B8-7A065EA6A284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293917" y="996684"/>
            <a:ext cx="3497580" cy="5593080"/>
          </a:xfrm>
        </p:spPr>
        <p:txBody>
          <a:bodyPr anchor="t" anchorCtr="0">
            <a:normAutofit/>
          </a:bodyPr>
          <a:lstStyle>
            <a:lvl1pPr marL="285750" indent="-285750" algn="l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54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59962" y="6324918"/>
            <a:ext cx="365760" cy="365760"/>
          </a:xfrm>
        </p:spPr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itle 11">
            <a:extLst>
              <a:ext uri="{FF2B5EF4-FFF2-40B4-BE49-F238E27FC236}">
                <a16:creationId xmlns="" xmlns:a16="http://schemas.microsoft.com/office/drawing/2014/main" id="{2B21E085-4E62-4EC9-A5F1-16523F1959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942215" y="426720"/>
            <a:ext cx="4699941" cy="1188720"/>
          </a:xfrm>
          <a:noFill/>
          <a:ln>
            <a:noFill/>
          </a:ln>
        </p:spPr>
        <p:txBody>
          <a:bodyPr/>
          <a:lstStyle>
            <a:lvl1pPr algn="l">
              <a:defRPr cap="none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FFCDFB3A-4CE3-463F-8C40-B15E3F5CFC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48876" y="1818152"/>
            <a:ext cx="4045844" cy="4277848"/>
          </a:xfrm>
          <a:noFill/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228600" indent="0" algn="l">
              <a:buNone/>
              <a:defRPr>
                <a:solidFill>
                  <a:schemeClr val="tx1"/>
                </a:solidFill>
              </a:defRPr>
            </a:lvl2pPr>
            <a:lvl3pPr marL="457200" indent="0" algn="l">
              <a:buNone/>
              <a:defRPr>
                <a:solidFill>
                  <a:schemeClr val="tx1"/>
                </a:solidFill>
              </a:defRPr>
            </a:lvl3pPr>
            <a:lvl4pPr marL="685800" indent="0" algn="l">
              <a:buNone/>
              <a:defRPr>
                <a:solidFill>
                  <a:schemeClr val="tx1"/>
                </a:solidFill>
              </a:defRPr>
            </a:lvl4pPr>
            <a:lvl5pPr marL="914400" indent="0" algn="l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644389" y="6345814"/>
            <a:ext cx="2753746" cy="323968"/>
          </a:xfrm>
        </p:spPr>
        <p:txBody>
          <a:bodyPr/>
          <a:lstStyle/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403848"/>
            <a:ext cx="5901189" cy="320040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7D356109-298D-4C51-9DC7-DC74594DC2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2155" y="396240"/>
            <a:ext cx="5927725" cy="5989638"/>
          </a:xfrm>
          <a:ln w="38100">
            <a:solidFill>
              <a:schemeClr val="accent2"/>
            </a:solidFill>
          </a:ln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4070FEF-D9D1-45DF-A806-9CA5B8270E72}"/>
              </a:ext>
            </a:extLst>
          </p:cNvPr>
          <p:cNvSpPr/>
          <p:nvPr userDrawn="1"/>
        </p:nvSpPr>
        <p:spPr>
          <a:xfrm>
            <a:off x="-15240" y="-1"/>
            <a:ext cx="365760" cy="687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9" name="Straight Connector 8" descr="decorative element">
            <a:extLst>
              <a:ext uri="{FF2B5EF4-FFF2-40B4-BE49-F238E27FC236}">
                <a16:creationId xmlns="" xmlns:a16="http://schemas.microsoft.com/office/drawing/2014/main" id="{167C85F9-C124-4D12-B4AC-317A35D715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41749" y="1720670"/>
            <a:ext cx="378000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94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BDE53EE8-1567-4A1C-B5FB-9243D17B161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145CB378-10E3-4D4E-82B7-47858EDEE5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62827" y="543339"/>
            <a:ext cx="5040000" cy="5765661"/>
          </a:xfrm>
          <a:ln w="38100">
            <a:solidFill>
              <a:schemeClr val="bg1"/>
            </a:solidFill>
          </a:ln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37045" y="6358084"/>
            <a:ext cx="2753746" cy="323968"/>
          </a:xfrm>
        </p:spPr>
        <p:txBody>
          <a:bodyPr/>
          <a:lstStyle/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4361" y="6382908"/>
            <a:ext cx="5901189" cy="320040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74538" y="6337188"/>
            <a:ext cx="365760" cy="365760"/>
          </a:xfrm>
        </p:spPr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AA2BF3C7-5EFF-4508-B560-D9A68D3F7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04361" y="164690"/>
            <a:ext cx="4593772" cy="2624056"/>
          </a:xfrm>
          <a:noFill/>
          <a:ln>
            <a:noFill/>
          </a:ln>
        </p:spPr>
        <p:txBody>
          <a:bodyPr anchor="t" anchorCtr="0">
            <a:noAutofit/>
          </a:bodyPr>
          <a:lstStyle>
            <a:lvl1pPr>
              <a:defRPr sz="400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37D64B51-A9B6-4A76-949F-5769931247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361" y="3233530"/>
            <a:ext cx="4593771" cy="2902590"/>
          </a:xfrm>
        </p:spPr>
        <p:txBody>
          <a:bodyPr>
            <a:normAutofit/>
          </a:bodyPr>
          <a:lstStyle>
            <a:lvl1pPr marL="0" indent="0" algn="ctr">
              <a:buClr>
                <a:schemeClr val="bg1"/>
              </a:buClr>
              <a:buNone/>
              <a:defRPr sz="2400">
                <a:solidFill>
                  <a:schemeClr val="tx1"/>
                </a:solidFill>
              </a:defRPr>
            </a:lvl1pPr>
            <a:lvl2pPr marL="228600" indent="0" algn="ctr">
              <a:buClr>
                <a:schemeClr val="bg1"/>
              </a:buClr>
              <a:buNone/>
              <a:defRPr sz="2400">
                <a:solidFill>
                  <a:schemeClr val="tx1"/>
                </a:solidFill>
              </a:defRPr>
            </a:lvl2pPr>
            <a:lvl3pPr marL="457200" indent="0" algn="ctr">
              <a:buClr>
                <a:schemeClr val="bg1"/>
              </a:buClr>
              <a:buNone/>
              <a:defRPr sz="2400">
                <a:solidFill>
                  <a:schemeClr val="tx1"/>
                </a:solidFill>
              </a:defRPr>
            </a:lvl3pPr>
            <a:lvl4pPr marL="685800" indent="0" algn="ctr">
              <a:buClr>
                <a:schemeClr val="bg1"/>
              </a:buClr>
              <a:buNone/>
              <a:defRPr sz="2400">
                <a:solidFill>
                  <a:schemeClr val="tx1"/>
                </a:solidFill>
              </a:defRPr>
            </a:lvl4pPr>
            <a:lvl5pPr marL="914400" indent="0" algn="ctr">
              <a:buClr>
                <a:schemeClr val="bg1"/>
              </a:buClr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0114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712900" y="407684"/>
            <a:ext cx="4910096" cy="2257167"/>
          </a:xfrm>
          <a:noFill/>
          <a:ln>
            <a:noFill/>
          </a:ln>
        </p:spPr>
        <p:txBody>
          <a:bodyPr anchor="ctr" anchorCtr="0">
            <a:normAutofit/>
          </a:bodyPr>
          <a:lstStyle>
            <a:lvl1pPr algn="l">
              <a:defRPr sz="4000">
                <a:solidFill>
                  <a:srgbClr val="262626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 bwMode="white">
          <a:xfrm>
            <a:off x="6780414" y="3019130"/>
            <a:ext cx="4584265" cy="3159033"/>
          </a:xfrm>
        </p:spPr>
        <p:txBody>
          <a:bodyPr anchor="t" anchorCtr="1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="" xmlns:a16="http://schemas.microsoft.com/office/drawing/2014/main" id="{1FEC71D9-8368-4022-BA35-B43400F925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27320" y="407684"/>
            <a:ext cx="5625849" cy="577047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9162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BE4AA6-ED36-4D3B-ABD8-3BA6059C3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44516" y="1127369"/>
            <a:ext cx="4703084" cy="1188720"/>
          </a:xfrm>
          <a:noFill/>
          <a:ln>
            <a:noFill/>
          </a:ln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D94707B9-0409-43FA-B052-6AE401D767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4516" y="2263081"/>
            <a:ext cx="4702968" cy="3909119"/>
          </a:xfrm>
          <a:noFill/>
          <a:ln>
            <a:noFill/>
          </a:ln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</a:defRPr>
            </a:lvl2pPr>
            <a:lvl3pPr marL="457200" indent="0" algn="ctr">
              <a:buNone/>
              <a:defRPr>
                <a:solidFill>
                  <a:schemeClr val="bg1"/>
                </a:solidFill>
              </a:defRPr>
            </a:lvl3pPr>
            <a:lvl4pPr marL="685800" indent="0" algn="ctr">
              <a:buNone/>
              <a:defRPr>
                <a:solidFill>
                  <a:schemeClr val="bg1"/>
                </a:solidFill>
              </a:defRPr>
            </a:lvl4pPr>
            <a:lvl5pPr marL="9144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256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blackWhite">
          <a:xfrm>
            <a:off x="1600200" y="2386744"/>
            <a:ext cx="8991600" cy="1645920"/>
          </a:xfrm>
          <a:noFill/>
          <a:ln w="38100">
            <a:solidFill>
              <a:srgbClr val="FFFFFF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400">
                <a:solidFill>
                  <a:srgbClr val="262626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737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268440A-E3ED-426B-A1F8-1D7557F9584D}"/>
              </a:ext>
            </a:extLst>
          </p:cNvPr>
          <p:cNvSpPr/>
          <p:nvPr userDrawn="1"/>
        </p:nvSpPr>
        <p:spPr>
          <a:xfrm>
            <a:off x="0" y="3648173"/>
            <a:ext cx="12192000" cy="32098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blackWhite">
          <a:xfrm>
            <a:off x="1600200" y="1887121"/>
            <a:ext cx="8991600" cy="1645920"/>
          </a:xfrm>
          <a:noFill/>
          <a:ln w="38100">
            <a:solidFill>
              <a:srgbClr val="FFFFFF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386F08-408F-4BD2-A5F9-1FF72E18D3C3}" type="datetimeFigureOut">
              <a:rPr lang="en-US" noProof="0" smtClean="0"/>
              <a:pPr/>
              <a:t>8/26/2025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9634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noFill/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0B668FB-6A04-4C02-A197-0044D616A95A}"/>
              </a:ext>
            </a:extLst>
          </p:cNvPr>
          <p:cNvSpPr/>
          <p:nvPr userDrawn="1"/>
        </p:nvSpPr>
        <p:spPr>
          <a:xfrm>
            <a:off x="-15240" y="-1"/>
            <a:ext cx="365760" cy="687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8643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noFill/>
          <a:ln>
            <a:noFill/>
          </a:ln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972FC25-236C-4A4E-83A6-4EBE36B8339C}"/>
              </a:ext>
            </a:extLst>
          </p:cNvPr>
          <p:cNvSpPr/>
          <p:nvPr userDrawn="1"/>
        </p:nvSpPr>
        <p:spPr>
          <a:xfrm>
            <a:off x="-15240" y="-1"/>
            <a:ext cx="365760" cy="687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95522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83436" y="2313433"/>
            <a:ext cx="4270248" cy="70408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83436" y="3143250"/>
            <a:ext cx="4270248" cy="259677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fld id="{38386F08-408F-4BD2-A5F9-1FF72E18D3C3}" type="datetimeFigureOut">
              <a:rPr lang="en-US" noProof="0" smtClean="0"/>
              <a:pPr/>
              <a:t>8/26/2025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 bwMode="gray">
          <a:noFill/>
          <a:ln>
            <a:solidFill>
              <a:schemeClr val="bg1"/>
            </a:solidFill>
          </a:ln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="" xmlns:a16="http://schemas.microsoft.com/office/drawing/2014/main" id="{7CC6D812-2BC4-484A-A3B0-D751943CAC2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04927" y="2313433"/>
            <a:ext cx="4270248" cy="704088"/>
          </a:xfrm>
        </p:spPr>
        <p:txBody>
          <a:bodyPr anchor="b"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4450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59962" y="6324918"/>
            <a:ext cx="365760" cy="365760"/>
          </a:xfrm>
        </p:spPr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644389" y="6345814"/>
            <a:ext cx="2753746" cy="323968"/>
          </a:xfrm>
        </p:spPr>
        <p:txBody>
          <a:bodyPr/>
          <a:lstStyle/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403848"/>
            <a:ext cx="5901189" cy="320040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4070FEF-D9D1-45DF-A806-9CA5B8270E72}"/>
              </a:ext>
            </a:extLst>
          </p:cNvPr>
          <p:cNvSpPr/>
          <p:nvPr userDrawn="1"/>
        </p:nvSpPr>
        <p:spPr>
          <a:xfrm>
            <a:off x="-15240" y="-1"/>
            <a:ext cx="365760" cy="687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C8A7AD-2B2B-4A1B-8A04-1B822384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6313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018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8386F08-408F-4BD2-A5F9-1FF72E18D3C3}" type="datetimeFigureOut">
              <a:rPr lang="en-US" noProof="0" smtClean="0"/>
              <a:t>8/26/2025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2F0A33C-B6D6-454E-A4EA-5198AC78DEE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314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9" r:id="rId4"/>
    <p:sldLayoutId id="2147483681" r:id="rId5"/>
    <p:sldLayoutId id="2147483690" r:id="rId6"/>
    <p:sldLayoutId id="2147483666" r:id="rId7"/>
    <p:sldLayoutId id="2147483687" r:id="rId8"/>
    <p:sldLayoutId id="2147483680" r:id="rId9"/>
    <p:sldLayoutId id="2147483688" r:id="rId10"/>
    <p:sldLayoutId id="2147483673" r:id="rId11"/>
    <p:sldLayoutId id="2147483692" r:id="rId12"/>
    <p:sldLayoutId id="2147483674" r:id="rId13"/>
    <p:sldLayoutId id="2147483676" r:id="rId14"/>
    <p:sldLayoutId id="2147483677" r:id="rId15"/>
    <p:sldLayoutId id="2147483691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kern="1200" cap="none" spc="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4DB4774-6C88-4182-9622-B0F68F5AC5B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6863"/>
            <a:ext cx="12192000" cy="6858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="" xmlns:a16="http://schemas.microsoft.com/office/drawing/2014/main" id="{73785415-E552-4742-B0A5-FC1ECF293E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311650" y="1503000"/>
            <a:ext cx="3568700" cy="38520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itle 36">
            <a:extLst>
              <a:ext uri="{FF2B5EF4-FFF2-40B4-BE49-F238E27FC236}">
                <a16:creationId xmlns="" xmlns:a16="http://schemas.microsoft.com/office/drawing/2014/main" id="{1C44CABD-3945-420B-A1E8-0D3E5F523E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CERES </a:t>
            </a:r>
            <a:br>
              <a:rPr 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DWARF PLANET</a:t>
            </a:r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Subtitle 37">
            <a:extLst>
              <a:ext uri="{FF2B5EF4-FFF2-40B4-BE49-F238E27FC236}">
                <a16:creationId xmlns="" xmlns:a16="http://schemas.microsoft.com/office/drawing/2014/main" id="{6ED6B106-CA53-428B-8BF0-1BC5768C0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1345" y="3322319"/>
            <a:ext cx="3369310" cy="2023304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Presented by: HARSHITA AGARWAL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BCA 1</a:t>
            </a:r>
            <a:r>
              <a:rPr lang="en-US" sz="2400" baseline="30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</a:t>
            </a:r>
            <a:r>
              <a:rPr lang="en-US" sz="24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year</a:t>
            </a:r>
            <a:endParaRPr lang="en-US" sz="2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="" xmlns:a16="http://schemas.microsoft.com/office/drawing/2014/main" id="{AB7897E6-775C-4603-8153-D078160E1E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620000" y="3221408"/>
            <a:ext cx="295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="" xmlns:a16="http://schemas.microsoft.com/office/drawing/2014/main" id="{7EF755C8-D22F-4585-A846-467B938E12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42000" y="1437564"/>
            <a:ext cx="3708000" cy="3982873"/>
          </a:xfrm>
          <a:prstGeom prst="rect">
            <a:avLst/>
          </a:prstGeom>
          <a:noFill/>
          <a:ln w="31750"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34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0142865-E6CA-4761-9E4C-52F0D6A53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85" y="457200"/>
            <a:ext cx="10676190" cy="979714"/>
          </a:xfrm>
        </p:spPr>
        <p:txBody>
          <a:bodyPr>
            <a:noAutofit/>
          </a:bodyPr>
          <a:lstStyle/>
          <a:p>
            <a:pPr>
              <a:spcBef>
                <a:spcPts val="4200"/>
              </a:spcBef>
              <a:spcAft>
                <a:spcPts val="3000"/>
              </a:spcAft>
            </a:pPr>
            <a:r>
              <a:rPr lang="en-US" sz="4400" b="1" dirty="0" smtClean="0">
                <a:solidFill>
                  <a:schemeClr val="tx1"/>
                </a:solidFill>
              </a:rPr>
              <a:t>CONTENTS:</a:t>
            </a:r>
            <a:r>
              <a:rPr lang="en-US" sz="4000" b="1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sz="1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B2D4C32-3413-4C48-BAAC-8902D2C39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85" y="2065894"/>
            <a:ext cx="10883292" cy="2820489"/>
          </a:xfrm>
        </p:spPr>
        <p:txBody>
          <a:bodyPr spcCol="36000">
            <a:noAutofit/>
          </a:bodyPr>
          <a:lstStyle/>
          <a:p>
            <a:r>
              <a:rPr lang="en-US" sz="2800" dirty="0" smtClean="0"/>
              <a:t>Introduction </a:t>
            </a:r>
            <a:endParaRPr lang="en-US" sz="2800" dirty="0"/>
          </a:p>
          <a:p>
            <a:r>
              <a:rPr lang="en-US" sz="2800" dirty="0" smtClean="0"/>
              <a:t>Namesake</a:t>
            </a:r>
            <a:endParaRPr lang="en-US" sz="2800" dirty="0"/>
          </a:p>
          <a:p>
            <a:r>
              <a:rPr lang="en-US" sz="2800" dirty="0" smtClean="0"/>
              <a:t>Potential for Life</a:t>
            </a:r>
            <a:endParaRPr lang="en-US" sz="2800" dirty="0"/>
          </a:p>
          <a:p>
            <a:r>
              <a:rPr lang="en-US" sz="2800" dirty="0" smtClean="0"/>
              <a:t>Size and Distance</a:t>
            </a:r>
            <a:endParaRPr lang="en-US" sz="2800" dirty="0"/>
          </a:p>
          <a:p>
            <a:r>
              <a:rPr lang="en-US" sz="2800" dirty="0" smtClean="0"/>
              <a:t>Orbit and Rotation</a:t>
            </a:r>
          </a:p>
          <a:p>
            <a:pPr marL="0" indent="0">
              <a:buNone/>
            </a:pPr>
            <a:endParaRPr lang="en-US" sz="2800" dirty="0"/>
          </a:p>
          <a:p>
            <a:pPr>
              <a:spcBef>
                <a:spcPts val="0"/>
              </a:spcBef>
            </a:pPr>
            <a:r>
              <a:rPr lang="en-US" sz="2800" dirty="0" smtClean="0"/>
              <a:t>Formation and Structure</a:t>
            </a:r>
            <a:endParaRPr lang="en-US" sz="2800" dirty="0"/>
          </a:p>
          <a:p>
            <a:r>
              <a:rPr lang="en-US" sz="2800" dirty="0" smtClean="0"/>
              <a:t>Surface and Atmosphere</a:t>
            </a:r>
            <a:endParaRPr lang="en-US" sz="2800" dirty="0"/>
          </a:p>
          <a:p>
            <a:r>
              <a:rPr lang="en-US" sz="2800" dirty="0" smtClean="0"/>
              <a:t>Moons, Rings </a:t>
            </a:r>
            <a:r>
              <a:rPr lang="en-IN" sz="2800" dirty="0"/>
              <a:t>&amp; </a:t>
            </a:r>
            <a:r>
              <a:rPr lang="en-IN" sz="2800" dirty="0" smtClean="0"/>
              <a:t>Magnetosphere</a:t>
            </a:r>
          </a:p>
          <a:p>
            <a:r>
              <a:rPr lang="en-US" sz="2800" dirty="0" smtClean="0"/>
              <a:t>Pop Culture</a:t>
            </a:r>
          </a:p>
          <a:p>
            <a:r>
              <a:rPr lang="en-US" sz="2800" dirty="0" smtClean="0"/>
              <a:t>Conclusion</a:t>
            </a:r>
            <a:endParaRPr lang="en-US" sz="2800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D6D84601-5D04-4246-95A5-C178A6C74B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99107" y="768242"/>
            <a:ext cx="10895707" cy="5423118"/>
            <a:chOff x="699108" y="935360"/>
            <a:chExt cx="10746132" cy="5256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="" xmlns:a16="http://schemas.microsoft.com/office/drawing/2014/main" id="{DDAC6016-1C3C-4BBF-88B5-BD903710BDAE}"/>
                </a:ext>
              </a:extLst>
            </p:cNvPr>
            <p:cNvCxnSpPr/>
            <p:nvPr/>
          </p:nvCxnSpPr>
          <p:spPr>
            <a:xfrm>
              <a:off x="4267200" y="947420"/>
              <a:ext cx="717804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="" xmlns:a16="http://schemas.microsoft.com/office/drawing/2014/main" id="{B9FDF5A3-9005-483A-B72F-BD42C53B1E22}"/>
                </a:ext>
              </a:extLst>
            </p:cNvPr>
            <p:cNvCxnSpPr/>
            <p:nvPr/>
          </p:nvCxnSpPr>
          <p:spPr>
            <a:xfrm>
              <a:off x="699108" y="6172200"/>
              <a:ext cx="10728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3AE3BCE0-4649-475A-A49B-916C5A6518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799888" y="3563360"/>
              <a:ext cx="5256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553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14C0AF-0C99-49B8-B848-73442FA81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</a:t>
            </a:r>
            <a:r>
              <a:rPr lang="en-US" b="1" dirty="0" smtClean="0"/>
              <a:t>CERES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4F1A56A-9365-4450-94DC-F98248141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2071" y="2194560"/>
            <a:ext cx="5297398" cy="4114800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 smtClean="0"/>
              <a:t>Ceres is the largest object in the asteroid belt between Mars and Jupiter.</a:t>
            </a:r>
            <a:endParaRPr lang="en-US" sz="2600" dirty="0">
              <a:solidFill>
                <a:schemeClr val="tx1"/>
              </a:solidFill>
            </a:endParaRPr>
          </a:p>
          <a:p>
            <a:r>
              <a:rPr lang="en-US" sz="2600" dirty="0" smtClean="0">
                <a:solidFill>
                  <a:schemeClr val="tx1"/>
                </a:solidFill>
              </a:rPr>
              <a:t>First discovered in 1801 by Giuseppe Piazzi.</a:t>
            </a:r>
            <a:endParaRPr lang="en-US" sz="2600" dirty="0">
              <a:solidFill>
                <a:schemeClr val="tx1"/>
              </a:solidFill>
            </a:endParaRPr>
          </a:p>
          <a:p>
            <a:r>
              <a:rPr lang="en-US" sz="2600" dirty="0" smtClean="0"/>
              <a:t>Visited by NASA’s Dawn spacecraft in 2015.</a:t>
            </a:r>
            <a:endParaRPr lang="en-US" sz="2600" dirty="0">
              <a:solidFill>
                <a:schemeClr val="tx1"/>
              </a:solidFill>
            </a:endParaRPr>
          </a:p>
          <a:p>
            <a:r>
              <a:rPr lang="en-US" sz="2600" dirty="0" smtClean="0"/>
              <a:t>Reclassified as a dwarf planet in 2006 due to its size and unique features.</a:t>
            </a:r>
          </a:p>
          <a:p>
            <a:r>
              <a:rPr lang="en-US" sz="2600" dirty="0" smtClean="0">
                <a:solidFill>
                  <a:schemeClr val="tx1"/>
                </a:solidFill>
              </a:rPr>
              <a:t>Comprises 25% of the asteroid belt’s total mass, though Pluto is 14 times more massive</a:t>
            </a:r>
            <a:endParaRPr lang="en-US" sz="26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EFE30D8E-3C8D-4EC6-9EC0-49EEC65D3D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394323" y="365760"/>
            <a:ext cx="6102876" cy="6126480"/>
            <a:chOff x="4266631" y="945960"/>
            <a:chExt cx="7178609" cy="5226240"/>
          </a:xfrm>
        </p:grpSpPr>
        <p:cxnSp>
          <p:nvCxnSpPr>
            <p:cNvPr id="9" name="Straight Connector 8">
              <a:extLst>
                <a:ext uri="{FF2B5EF4-FFF2-40B4-BE49-F238E27FC236}">
                  <a16:creationId xmlns="" xmlns:a16="http://schemas.microsoft.com/office/drawing/2014/main" id="{1612A650-2C8A-4D4F-8C56-7E8C716CB428}"/>
                </a:ext>
              </a:extLst>
            </p:cNvPr>
            <p:cNvCxnSpPr/>
            <p:nvPr/>
          </p:nvCxnSpPr>
          <p:spPr>
            <a:xfrm>
              <a:off x="4267200" y="960120"/>
              <a:ext cx="71780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="" xmlns:a16="http://schemas.microsoft.com/office/drawing/2014/main" id="{D87B35CA-924E-4B0B-8992-FCA9B56F0710}"/>
                </a:ext>
              </a:extLst>
            </p:cNvPr>
            <p:cNvCxnSpPr/>
            <p:nvPr/>
          </p:nvCxnSpPr>
          <p:spPr>
            <a:xfrm>
              <a:off x="4266631" y="6172200"/>
              <a:ext cx="71604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="" xmlns:a16="http://schemas.microsoft.com/office/drawing/2014/main" id="{37967EA4-E543-4682-9FBC-5EB0A4DED47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17888" y="3555960"/>
              <a:ext cx="522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83A55248-C59C-4ACA-8BB2-3607238825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83920" y="1977762"/>
            <a:ext cx="504000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1" name="Picture Placeholder 20">
            <a:extLst>
              <a:ext uri="{FF2B5EF4-FFF2-40B4-BE49-F238E27FC236}">
                <a16:creationId xmlns="" xmlns:a16="http://schemas.microsoft.com/office/drawing/2014/main" id="{15EDCB2E-FB37-4EB6-95E6-922E5BE1A50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7"/>
          <a:stretch/>
        </p:blipFill>
        <p:spPr>
          <a:xfrm>
            <a:off x="6511466" y="0"/>
            <a:ext cx="5680534" cy="6858000"/>
          </a:xfrm>
        </p:spPr>
      </p:pic>
    </p:spTree>
    <p:extLst>
      <p:ext uri="{BB962C8B-B14F-4D97-AF65-F5344CB8AC3E}">
        <p14:creationId xmlns:p14="http://schemas.microsoft.com/office/powerpoint/2010/main" val="236519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66">
            <a:extLst>
              <a:ext uri="{FF2B5EF4-FFF2-40B4-BE49-F238E27FC236}">
                <a16:creationId xmlns="" xmlns:a16="http://schemas.microsoft.com/office/drawing/2014/main" id="{BC69CF52-F446-4370-9577-2EB5F30E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NAMESAKE</a:t>
            </a:r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="" xmlns:a16="http://schemas.microsoft.com/office/drawing/2014/main" id="{13381A64-D3D4-4D0D-A114-3AC5FB8E5D7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smtClean="0"/>
              <a:t>Named after </a:t>
            </a:r>
            <a:r>
              <a:rPr lang="en-US" b="1" dirty="0" smtClean="0"/>
              <a:t>CERES</a:t>
            </a:r>
            <a:r>
              <a:rPr lang="en-US" dirty="0" smtClean="0"/>
              <a:t>, Roman goddess of corn and harvests.</a:t>
            </a:r>
          </a:p>
          <a:p>
            <a:r>
              <a:rPr lang="en-US" dirty="0" smtClean="0"/>
              <a:t>The word </a:t>
            </a:r>
            <a:r>
              <a:rPr lang="en-US" b="1" dirty="0" smtClean="0"/>
              <a:t>cereal</a:t>
            </a:r>
            <a:r>
              <a:rPr lang="en-US" dirty="0" smtClean="0"/>
              <a:t> is derived from her name</a:t>
            </a:r>
          </a:p>
        </p:txBody>
      </p:sp>
      <p:pic>
        <p:nvPicPr>
          <p:cNvPr id="76" name="Picture Placeholder 75">
            <a:extLst>
              <a:ext uri="{FF2B5EF4-FFF2-40B4-BE49-F238E27FC236}">
                <a16:creationId xmlns="" xmlns:a16="http://schemas.microsoft.com/office/drawing/2014/main" id="{4FDD1278-D13B-4797-8C98-7540806B711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79" y="2952166"/>
            <a:ext cx="2880000" cy="2880000"/>
          </a:xfrm>
          <a:ln>
            <a:solidFill>
              <a:schemeClr val="tx1"/>
            </a:solidFill>
          </a:ln>
        </p:spPr>
      </p:pic>
      <p:pic>
        <p:nvPicPr>
          <p:cNvPr id="71" name="Picture Placeholder 70">
            <a:extLst>
              <a:ext uri="{FF2B5EF4-FFF2-40B4-BE49-F238E27FC236}">
                <a16:creationId xmlns="" xmlns:a16="http://schemas.microsoft.com/office/drawing/2014/main" id="{55FE5CCD-3F2F-46F8-9BBD-290D86FBAE2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08" r="14811"/>
          <a:stretch/>
        </p:blipFill>
        <p:spPr>
          <a:xfrm>
            <a:off x="4485727" y="2942985"/>
            <a:ext cx="3383873" cy="2889181"/>
          </a:xfrm>
        </p:spPr>
      </p:pic>
      <p:pic>
        <p:nvPicPr>
          <p:cNvPr id="64" name="Picture Placeholder 63">
            <a:extLst>
              <a:ext uri="{FF2B5EF4-FFF2-40B4-BE49-F238E27FC236}">
                <a16:creationId xmlns="" xmlns:a16="http://schemas.microsoft.com/office/drawing/2014/main" id="{9C861612-6B98-4A33-AEFF-4F0A60364327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521" y="2952166"/>
            <a:ext cx="2880000" cy="2880000"/>
          </a:xfrm>
          <a:ln>
            <a:solidFill>
              <a:schemeClr val="tx1"/>
            </a:solidFill>
          </a:ln>
        </p:spPr>
      </p:pic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067AF930-F598-4747-9605-0A838ED20B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 rot="5400000" flipH="1">
            <a:off x="4743216" y="-3976630"/>
            <a:ext cx="2705567" cy="11429999"/>
            <a:chOff x="4578818" y="945960"/>
            <a:chExt cx="6880587" cy="5226241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21D710A3-26CD-4F84-A4D0-36F61290B609}"/>
                </a:ext>
              </a:extLst>
            </p:cNvPr>
            <p:cNvCxnSpPr/>
            <p:nvPr/>
          </p:nvCxnSpPr>
          <p:spPr>
            <a:xfrm>
              <a:off x="4578818" y="954315"/>
              <a:ext cx="6866419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341FF842-56E6-401D-9231-6DA71802EEF0}"/>
                </a:ext>
              </a:extLst>
            </p:cNvPr>
            <p:cNvCxnSpPr/>
            <p:nvPr/>
          </p:nvCxnSpPr>
          <p:spPr>
            <a:xfrm>
              <a:off x="4592975" y="6172201"/>
              <a:ext cx="686643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="" xmlns:a16="http://schemas.microsoft.com/office/drawing/2014/main" id="{92A67031-41E7-43C9-8962-AD5A25383D2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17888" y="3555960"/>
              <a:ext cx="522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094F297F-EFDC-486B-84B0-60452DD9DD2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 rot="16200000" flipH="1" flipV="1">
            <a:off x="4127722" y="-1334239"/>
            <a:ext cx="3938452" cy="11430000"/>
            <a:chOff x="4578818" y="945960"/>
            <a:chExt cx="6880587" cy="522624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B19EBAE2-30BF-4069-8CA3-ED78C7E5B56D}"/>
                </a:ext>
              </a:extLst>
            </p:cNvPr>
            <p:cNvCxnSpPr/>
            <p:nvPr/>
          </p:nvCxnSpPr>
          <p:spPr>
            <a:xfrm>
              <a:off x="4578818" y="954315"/>
              <a:ext cx="686641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="" xmlns:a16="http://schemas.microsoft.com/office/drawing/2014/main" id="{DFB05770-3738-4864-BC82-D2B153B53989}"/>
                </a:ext>
              </a:extLst>
            </p:cNvPr>
            <p:cNvCxnSpPr/>
            <p:nvPr/>
          </p:nvCxnSpPr>
          <p:spPr>
            <a:xfrm>
              <a:off x="4592975" y="6172201"/>
              <a:ext cx="686643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="" xmlns:a16="http://schemas.microsoft.com/office/drawing/2014/main" id="{8F765A14-4747-43AD-9029-6A1A9224A47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17888" y="3555960"/>
              <a:ext cx="522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32CF6C65-9676-4BE4-A507-1A1EC5CCD8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667000" y="1433444"/>
            <a:ext cx="681990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31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26">
            <a:extLst>
              <a:ext uri="{FF2B5EF4-FFF2-40B4-BE49-F238E27FC236}">
                <a16:creationId xmlns="" xmlns:a16="http://schemas.microsoft.com/office/drawing/2014/main" id="{7001B856-B79C-4FA5-95FD-B8EACA64129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657FC711-4568-4FA7-AA48-8402C6452B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6158156" y="577928"/>
            <a:ext cx="6611769" cy="5455921"/>
          </a:xfrm>
          <a:prstGeom prst="rect">
            <a:avLst/>
          </a:prstGeom>
          <a:gradFill flip="none" rotWithShape="1">
            <a:gsLst>
              <a:gs pos="1000">
                <a:schemeClr val="tx1">
                  <a:alpha val="0"/>
                </a:schemeClr>
              </a:gs>
              <a:gs pos="61000">
                <a:schemeClr val="tx1">
                  <a:alpha val="92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50BB4A24-2253-4A39-B175-C5120133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454" y="545054"/>
            <a:ext cx="3787891" cy="1399290"/>
          </a:xfrm>
        </p:spPr>
        <p:txBody>
          <a:bodyPr>
            <a:noAutofit/>
          </a:bodyPr>
          <a:lstStyle/>
          <a:p>
            <a:r>
              <a:rPr lang="en-US" sz="4400" b="1" dirty="0" smtClean="0"/>
              <a:t>POTENTIAL FOR LIFE</a:t>
            </a:r>
            <a:endParaRPr lang="en-US" sz="4400" b="1" dirty="0"/>
          </a:p>
        </p:txBody>
      </p:sp>
      <p:sp>
        <p:nvSpPr>
          <p:cNvPr id="13" name="Text Placeholder 12">
            <a:extLst>
              <a:ext uri="{FF2B5EF4-FFF2-40B4-BE49-F238E27FC236}">
                <a16:creationId xmlns="" xmlns:a16="http://schemas.microsoft.com/office/drawing/2014/main" id="{6AD81136-7F59-43AB-8A14-139387331E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48789" y="1964442"/>
            <a:ext cx="3727556" cy="3799990"/>
          </a:xfrm>
        </p:spPr>
        <p:txBody>
          <a:bodyPr/>
          <a:lstStyle/>
          <a:p>
            <a:r>
              <a:rPr lang="en-US" b="1" dirty="0" smtClean="0"/>
              <a:t>Ceres contains water – an essential ingredient for life </a:t>
            </a:r>
            <a:endParaRPr lang="en-US" b="1" dirty="0"/>
          </a:p>
          <a:p>
            <a:r>
              <a:rPr lang="en-US" dirty="0" smtClean="0"/>
              <a:t>Scientists speculate it could host microbial life or show signs of past life. </a:t>
            </a:r>
            <a:endParaRPr lang="en-US" dirty="0"/>
          </a:p>
          <a:p>
            <a:r>
              <a:rPr lang="en-US" dirty="0" smtClean="0"/>
              <a:t>Water may exist as ice or vapor, possibly from ice volcanoes or sublimation.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9F0A75C1-3072-4DCB-952E-5C598E1C83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938567" y="1961004"/>
            <a:ext cx="334800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D7DD2AF5-94F8-4276-A384-39A296E9E6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657999" y="340659"/>
            <a:ext cx="864000" cy="122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="" xmlns:a16="http://schemas.microsoft.com/office/drawing/2014/main" id="{3E135D3E-7923-4D69-BC52-1E8434A0B2D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0" y="0"/>
            <a:ext cx="1260000" cy="12600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70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865A1981-B625-4CED-8385-6988DF4CB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910" y="1312914"/>
            <a:ext cx="6944870" cy="496062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58705588-E2BC-4E36-A99E-9B19942BFE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8016780" y="1273224"/>
            <a:ext cx="3456000" cy="2520000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53B6E93-870A-47FD-871A-60D186B2A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4000" y="823224"/>
            <a:ext cx="3841560" cy="342000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000" b="1" dirty="0" smtClean="0"/>
              <a:t>SIZE AND DISTANCE</a:t>
            </a:r>
            <a:endParaRPr lang="en-US" sz="40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DF07F4A7-B79A-4E16-A73A-E30B7C64B324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Radius: </a:t>
            </a:r>
            <a:r>
              <a:rPr lang="en-US" b="1" dirty="0" smtClean="0"/>
              <a:t>296 miles </a:t>
            </a:r>
            <a:r>
              <a:rPr lang="en-US" dirty="0" smtClean="0"/>
              <a:t>(476 km), about </a:t>
            </a:r>
            <a:r>
              <a:rPr lang="en-US" b="1" dirty="0" smtClean="0"/>
              <a:t>1/13</a:t>
            </a:r>
            <a:r>
              <a:rPr lang="en-US" dirty="0" smtClean="0"/>
              <a:t> of Earth’s radius.</a:t>
            </a:r>
            <a:endParaRPr lang="en-US" dirty="0"/>
          </a:p>
          <a:p>
            <a:r>
              <a:rPr lang="en-US" dirty="0" smtClean="0"/>
              <a:t>If Earth was a </a:t>
            </a:r>
            <a:r>
              <a:rPr lang="en-US" b="1" dirty="0" smtClean="0"/>
              <a:t>nickel</a:t>
            </a:r>
            <a:r>
              <a:rPr lang="en-US" dirty="0" smtClean="0"/>
              <a:t>, Ceres would be a </a:t>
            </a:r>
            <a:r>
              <a:rPr lang="en-US" b="1" dirty="0" smtClean="0"/>
              <a:t>poppy seed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Distance from Sun: </a:t>
            </a:r>
            <a:r>
              <a:rPr lang="en-US" b="1" dirty="0" smtClean="0"/>
              <a:t>257 million miles  </a:t>
            </a:r>
            <a:r>
              <a:rPr lang="en-US" dirty="0" smtClean="0"/>
              <a:t>(413 million km) or 2.8AU.</a:t>
            </a:r>
          </a:p>
          <a:p>
            <a:r>
              <a:rPr lang="en-US" dirty="0" smtClean="0"/>
              <a:t>Sunlight takes ~</a:t>
            </a:r>
            <a:r>
              <a:rPr lang="en-US" b="1" dirty="0" smtClean="0"/>
              <a:t>22 minutes</a:t>
            </a:r>
            <a:r>
              <a:rPr lang="en-US" dirty="0" smtClean="0"/>
              <a:t> to reach </a:t>
            </a:r>
            <a:r>
              <a:rPr lang="en-US" dirty="0"/>
              <a:t>C</a:t>
            </a:r>
            <a:r>
              <a:rPr lang="en-US" dirty="0" smtClean="0"/>
              <a:t>eres.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87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A1E10E-47FE-4FED-B884-B0DA88D70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ORBIT &amp; ROTATION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80054EFB-058D-4282-9FEE-3269DB2705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b="1" dirty="0" smtClean="0"/>
              <a:t>Orbital period</a:t>
            </a:r>
            <a:r>
              <a:rPr lang="en-US" dirty="0" smtClean="0"/>
              <a:t>: </a:t>
            </a: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4.6 Earth years</a:t>
            </a:r>
            <a:r>
              <a:rPr lang="en-US" dirty="0" smtClean="0"/>
              <a:t> (1,682 days) </a:t>
            </a:r>
          </a:p>
          <a:p>
            <a:r>
              <a:rPr lang="en-US" b="1" dirty="0" smtClean="0"/>
              <a:t>Rotational period</a:t>
            </a:r>
            <a:r>
              <a:rPr lang="en-US" dirty="0" smtClean="0"/>
              <a:t>: 9 hours – one of the shortest in the solar system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Axis tilt</a:t>
            </a:r>
            <a:r>
              <a:rPr lang="en-US" dirty="0" smtClean="0">
                <a:solidFill>
                  <a:schemeClr val="tx1"/>
                </a:solidFill>
              </a:rPr>
              <a:t>: 4°, meaning no significant seasons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40" name="Picture Placeholder 39">
            <a:extLst>
              <a:ext uri="{FF2B5EF4-FFF2-40B4-BE49-F238E27FC236}">
                <a16:creationId xmlns="" xmlns:a16="http://schemas.microsoft.com/office/drawing/2014/main" id="{E8B7F7D4-E5B8-41EA-8871-6587993DB8C2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55" y="1168162"/>
            <a:ext cx="5927725" cy="4445793"/>
          </a:xfrm>
        </p:spPr>
      </p:pic>
      <p:grpSp>
        <p:nvGrpSpPr>
          <p:cNvPr id="30" name="Group 29">
            <a:extLst>
              <a:ext uri="{FF2B5EF4-FFF2-40B4-BE49-F238E27FC236}">
                <a16:creationId xmlns="" xmlns:a16="http://schemas.microsoft.com/office/drawing/2014/main" id="{FF9BBE4E-CEAC-4E1B-B07B-F36AAE19BB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086076" y="350520"/>
            <a:ext cx="4699942" cy="6048000"/>
            <a:chOff x="4266631" y="945960"/>
            <a:chExt cx="7178609" cy="522624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="" xmlns:a16="http://schemas.microsoft.com/office/drawing/2014/main" id="{B93E5D3E-D8C4-4456-8E04-587CECECB10C}"/>
                </a:ext>
              </a:extLst>
            </p:cNvPr>
            <p:cNvCxnSpPr/>
            <p:nvPr/>
          </p:nvCxnSpPr>
          <p:spPr>
            <a:xfrm>
              <a:off x="4267200" y="960120"/>
              <a:ext cx="717804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="" xmlns:a16="http://schemas.microsoft.com/office/drawing/2014/main" id="{6CA7DD07-AC8B-4394-95F1-6FB9FB68DAF0}"/>
                </a:ext>
              </a:extLst>
            </p:cNvPr>
            <p:cNvCxnSpPr/>
            <p:nvPr/>
          </p:nvCxnSpPr>
          <p:spPr>
            <a:xfrm>
              <a:off x="4266631" y="6172200"/>
              <a:ext cx="7160477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="" xmlns:a16="http://schemas.microsoft.com/office/drawing/2014/main" id="{9FA4B135-F303-4FAC-A350-AB06FDB04C5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17888" y="3555960"/>
              <a:ext cx="5220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99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="" xmlns:a16="http://schemas.microsoft.com/office/drawing/2014/main" id="{34888449-0EF0-4A86-8913-1438ECD7B4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 bwMode="blackGray">
          <a:xfrm>
            <a:off x="0" y="0"/>
            <a:ext cx="6642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="" xmlns:a16="http://schemas.microsoft.com/office/drawing/2014/main" id="{F395D630-55BC-4974-AEB4-5C5BCB92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CERES’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 FORMATION AND STRUCTURE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="" xmlns:a16="http://schemas.microsoft.com/office/drawing/2014/main" id="{D621B9DA-9580-4E28-B854-4EC2C7B50A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4361" y="2156871"/>
            <a:ext cx="4593771" cy="40330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Formed ~4.5 billion years ago; considered an “</a:t>
            </a:r>
            <a:r>
              <a:rPr lang="en-US" b="1" dirty="0" smtClean="0"/>
              <a:t>embryonic planet</a:t>
            </a:r>
            <a:r>
              <a:rPr lang="en-US" dirty="0" smtClean="0"/>
              <a:t>”.</a:t>
            </a:r>
          </a:p>
          <a:p>
            <a:r>
              <a:rPr lang="en-US" b="1" dirty="0" smtClean="0"/>
              <a:t>Jupiter’s gravity </a:t>
            </a:r>
            <a:r>
              <a:rPr lang="en-US" dirty="0" smtClean="0"/>
              <a:t>prevented full planetary development.</a:t>
            </a:r>
          </a:p>
          <a:p>
            <a:r>
              <a:rPr lang="en-US" dirty="0" smtClean="0"/>
              <a:t>Likely has a </a:t>
            </a:r>
            <a:r>
              <a:rPr lang="en-US" b="1" dirty="0" smtClean="0"/>
              <a:t>solid core and icy mantle</a:t>
            </a:r>
            <a:r>
              <a:rPr lang="en-US" dirty="0" smtClean="0"/>
              <a:t>, may contain 25% water.</a:t>
            </a:r>
          </a:p>
          <a:p>
            <a:r>
              <a:rPr lang="en-US" dirty="0" smtClean="0"/>
              <a:t>Crust is </a:t>
            </a:r>
            <a:r>
              <a:rPr lang="en-US" b="1" dirty="0" smtClean="0"/>
              <a:t>rocky and dusty </a:t>
            </a:r>
            <a:r>
              <a:rPr lang="en-US" dirty="0" smtClean="0"/>
              <a:t>with salt deposits (e.g., magnesium sulfate)</a:t>
            </a:r>
            <a:endParaRPr lang="en-US" dirty="0"/>
          </a:p>
        </p:txBody>
      </p:sp>
      <p:pic>
        <p:nvPicPr>
          <p:cNvPr id="23" name="Picture Placeholder 22">
            <a:extLst>
              <a:ext uri="{FF2B5EF4-FFF2-40B4-BE49-F238E27FC236}">
                <a16:creationId xmlns="" xmlns:a16="http://schemas.microsoft.com/office/drawing/2014/main" id="{9F62E437-1921-444C-A219-141AB723B55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108" y="1483875"/>
            <a:ext cx="5040000" cy="4011120"/>
          </a:xfrm>
        </p:spPr>
      </p:pic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32E115EA-1F1C-4B95-AB2B-A6FAF6A149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501640" y="593217"/>
            <a:ext cx="5044917" cy="5777042"/>
            <a:chOff x="-13995491" y="945960"/>
            <a:chExt cx="25440731" cy="5220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="" xmlns:a16="http://schemas.microsoft.com/office/drawing/2014/main" id="{84D16DA6-5FB9-4A1C-91C1-DCB551C572D0}"/>
                </a:ext>
              </a:extLst>
            </p:cNvPr>
            <p:cNvCxnSpPr/>
            <p:nvPr/>
          </p:nvCxnSpPr>
          <p:spPr>
            <a:xfrm>
              <a:off x="4267200" y="960120"/>
              <a:ext cx="71780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="" xmlns:a16="http://schemas.microsoft.com/office/drawing/2014/main" id="{3EE3D6A7-BDAE-46F3-A0AC-6FFBDB8BCE5E}"/>
                </a:ext>
              </a:extLst>
            </p:cNvPr>
            <p:cNvCxnSpPr>
              <a:cxnSpLocks/>
            </p:cNvCxnSpPr>
            <p:nvPr/>
          </p:nvCxnSpPr>
          <p:spPr>
            <a:xfrm>
              <a:off x="-13995491" y="6160611"/>
              <a:ext cx="2543696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="" xmlns:a16="http://schemas.microsoft.com/office/drawing/2014/main" id="{FDA729FD-538C-4F70-AD7C-C5B181386F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17888" y="3555960"/>
              <a:ext cx="522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E9155088-A385-4898-BF3A-E8A973106C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6672" y="600914"/>
            <a:ext cx="5044917" cy="5777043"/>
            <a:chOff x="-13995491" y="957935"/>
            <a:chExt cx="25440731" cy="5220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="" xmlns:a16="http://schemas.microsoft.com/office/drawing/2014/main" id="{C156646E-1B93-4BAA-AEB7-D2B7C87B99F8}"/>
                </a:ext>
              </a:extLst>
            </p:cNvPr>
            <p:cNvCxnSpPr/>
            <p:nvPr/>
          </p:nvCxnSpPr>
          <p:spPr>
            <a:xfrm>
              <a:off x="4267200" y="960120"/>
              <a:ext cx="71780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="" xmlns:a16="http://schemas.microsoft.com/office/drawing/2014/main" id="{811E80F9-2AB1-47E1-AFB6-941CB5BB67F1}"/>
                </a:ext>
              </a:extLst>
            </p:cNvPr>
            <p:cNvCxnSpPr>
              <a:cxnSpLocks/>
            </p:cNvCxnSpPr>
            <p:nvPr/>
          </p:nvCxnSpPr>
          <p:spPr>
            <a:xfrm>
              <a:off x="-13995491" y="6160611"/>
              <a:ext cx="2543696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="" xmlns:a16="http://schemas.microsoft.com/office/drawing/2014/main" id="{77A9E40C-636F-4F04-A37B-C706AFD2087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17890" y="3567935"/>
              <a:ext cx="522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59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E7CA0621-717C-4BE7-AA89-263F3E2C511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5410201" y="0"/>
            <a:ext cx="6781800" cy="6873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DDAE4A6-B7D1-497F-AC40-6AF226DF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SURFACE, ATMOSPHERE &amp; MORE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F4B20246-8F91-4C8B-87D3-C25A74AE7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80414" y="2423160"/>
            <a:ext cx="4584265" cy="3755003"/>
          </a:xfrm>
        </p:spPr>
        <p:txBody>
          <a:bodyPr>
            <a:normAutofit lnSpcReduction="10000"/>
          </a:bodyPr>
          <a:lstStyle/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en-US" dirty="0" smtClean="0"/>
              <a:t>Surface: Young </a:t>
            </a:r>
            <a:r>
              <a:rPr lang="en-US" dirty="0" smtClean="0"/>
              <a:t>craters</a:t>
            </a:r>
            <a:r>
              <a:rPr lang="en-US" dirty="0" smtClean="0"/>
              <a:t>, none larger than 175 miles.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en-US" dirty="0" smtClean="0"/>
              <a:t>Possible ice volcanoes and cold traps with long-lasting ice.</a:t>
            </a:r>
          </a:p>
          <a:p>
            <a:pPr marL="342900" indent="-3429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Thin atmosphere with water vapor</a:t>
            </a:r>
          </a:p>
          <a:p>
            <a:pPr marL="342900" indent="-3429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dirty="0" smtClean="0"/>
              <a:t>No moons, no rings and no detectable magnetosphere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38" name="Picture Placeholder 37">
            <a:extLst>
              <a:ext uri="{FF2B5EF4-FFF2-40B4-BE49-F238E27FC236}">
                <a16:creationId xmlns="" xmlns:a16="http://schemas.microsoft.com/office/drawing/2014/main" id="{C886B6F2-4AAC-43D2-A11D-9091D2951504}"/>
              </a:ext>
            </a:extLst>
          </p:cNvPr>
          <p:cNvPicPr>
            <a:picLocks noGrp="1" noChangeAspect="1"/>
          </p:cNvPicPr>
          <p:nvPr>
            <p:ph type="pic"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20" y="1417640"/>
            <a:ext cx="5625849" cy="3750566"/>
          </a:xfrm>
        </p:spPr>
      </p:pic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102A00D8-5A4C-491C-AFE5-69721310529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230137" y="230352"/>
            <a:ext cx="5195475" cy="6411135"/>
            <a:chOff x="4578588" y="945960"/>
            <a:chExt cx="6866649" cy="5220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="" xmlns:a16="http://schemas.microsoft.com/office/drawing/2014/main" id="{2C2273CB-1593-4424-8A44-A1FCA1768665}"/>
                </a:ext>
              </a:extLst>
            </p:cNvPr>
            <p:cNvCxnSpPr/>
            <p:nvPr/>
          </p:nvCxnSpPr>
          <p:spPr>
            <a:xfrm>
              <a:off x="4578818" y="954315"/>
              <a:ext cx="6866419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31243644-F05E-4B84-903A-131D8057B82C}"/>
                </a:ext>
              </a:extLst>
            </p:cNvPr>
            <p:cNvCxnSpPr/>
            <p:nvPr/>
          </p:nvCxnSpPr>
          <p:spPr>
            <a:xfrm>
              <a:off x="4578588" y="6154475"/>
              <a:ext cx="686643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84B151F7-0FFD-491E-9444-733F58518F3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17888" y="3555960"/>
              <a:ext cx="52200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73816130-6E62-41EF-B818-D7CD3437044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 rot="10800000" flipH="1" flipV="1">
            <a:off x="5408664" y="219107"/>
            <a:ext cx="6563918" cy="6411136"/>
            <a:chOff x="4577230" y="945960"/>
            <a:chExt cx="6868007" cy="522000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="" xmlns:a16="http://schemas.microsoft.com/office/drawing/2014/main" id="{57DFD76A-70E0-4D6D-954C-5AEB8FE1478E}"/>
                </a:ext>
              </a:extLst>
            </p:cNvPr>
            <p:cNvCxnSpPr/>
            <p:nvPr/>
          </p:nvCxnSpPr>
          <p:spPr>
            <a:xfrm>
              <a:off x="4578818" y="954315"/>
              <a:ext cx="686641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="" xmlns:a16="http://schemas.microsoft.com/office/drawing/2014/main" id="{2F87696A-69E6-496F-A96D-C6AABB0D0BA7}"/>
                </a:ext>
              </a:extLst>
            </p:cNvPr>
            <p:cNvCxnSpPr/>
            <p:nvPr/>
          </p:nvCxnSpPr>
          <p:spPr>
            <a:xfrm>
              <a:off x="4577230" y="6159791"/>
              <a:ext cx="686643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="" xmlns:a16="http://schemas.microsoft.com/office/drawing/2014/main" id="{01474182-5FDA-4398-BBE0-0D676C4562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17888" y="3555960"/>
              <a:ext cx="522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9" name="Isosceles Triangle 38">
            <a:extLst>
              <a:ext uri="{FF2B5EF4-FFF2-40B4-BE49-F238E27FC236}">
                <a16:creationId xmlns="" xmlns:a16="http://schemas.microsoft.com/office/drawing/2014/main" id="{B8447291-9832-4B76-BD34-EE4A5E1E969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10696001" y="5351954"/>
            <a:ext cx="1260000" cy="1260000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89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9CBB346-0CD2-4685-99B1-EF04ED2E1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1713"/>
            <a:ext cx="12185907" cy="685457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0ECD7DE-6ECE-44C1-B0B1-B368695624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 bwMode="black">
          <a:xfrm>
            <a:off x="3131820" y="1143017"/>
            <a:ext cx="5928361" cy="4571967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DFFFCD-801A-478E-9627-5836490C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/>
                </a:solidFill>
              </a:rPr>
              <a:t>AMAZING </a:t>
            </a:r>
            <a:r>
              <a:rPr lang="en-US" dirty="0" smtClean="0">
                <a:solidFill>
                  <a:schemeClr val="accent2"/>
                </a:solidFill>
              </a:rPr>
              <a:t>FACTS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E50C2D7-C7F2-4AE4-B99C-A4F5CDF8D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516" y="2092011"/>
            <a:ext cx="4702968" cy="3909119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Featured in sci-fi: The Expanse, Descent, Destiny</a:t>
            </a:r>
          </a:p>
          <a:p>
            <a:r>
              <a:rPr lang="en-US" sz="2400" dirty="0" smtClean="0"/>
              <a:t>Imagined as colonized or destroyed by futuristic civilizations. </a:t>
            </a:r>
          </a:p>
          <a:p>
            <a:r>
              <a:rPr lang="en-US" sz="2400" dirty="0" smtClean="0"/>
              <a:t>Ceres is a fascination dwarf planet with water, a layered structure, and potential for life. Its unique position and features make it a key object of study in planetary science and space exploration. </a:t>
            </a:r>
            <a:endParaRPr lang="en-US" sz="2400" dirty="0"/>
          </a:p>
          <a:p>
            <a:endParaRPr lang="en-US" sz="2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052DC118-2E25-449E-B08F-DC7B604FFE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64000" y="2092011"/>
            <a:ext cx="4464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0E90DB81-F779-42BC-9736-F4BD7E268D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black">
          <a:xfrm>
            <a:off x="3054000" y="1069119"/>
            <a:ext cx="6084000" cy="4719760"/>
          </a:xfrm>
          <a:prstGeom prst="rect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6B2E2FBC-3A83-4C18-9BA9-D8E72AF5AB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2964000" y="999300"/>
            <a:ext cx="6264000" cy="4859400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74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Custom 12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B9BAA"/>
      </a:accent1>
      <a:accent2>
        <a:srgbClr val="FAB900"/>
      </a:accent2>
      <a:accent3>
        <a:srgbClr val="4B9BAA"/>
      </a:accent3>
      <a:accent4>
        <a:srgbClr val="EE7008"/>
      </a:accent4>
      <a:accent5>
        <a:srgbClr val="4B9BAA"/>
      </a:accent5>
      <a:accent6>
        <a:srgbClr val="D5393D"/>
      </a:accent6>
      <a:hlink>
        <a:srgbClr val="4B9BAA"/>
      </a:hlink>
      <a:folHlink>
        <a:srgbClr val="EE7008"/>
      </a:folHlink>
    </a:clrScheme>
    <a:fontScheme name="Custom 10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89732948_Virtual field trip_RVA_v4.potx" id="{D5327314-4ABE-4FA3-A970-063A298A971D}" vid="{3433CD16-A6C1-4434-8A42-CCC2BC6B04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0BCAE0-0F0E-4D40-98F9-5333DE7430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0764C4-A3D3-4D44-A5D4-7F16AA0BDF2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D3F06319-8903-43B2-A6AD-98B911A6C5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Virtual field trip</Template>
  <TotalTime>0</TotalTime>
  <Words>561</Words>
  <Application>Microsoft Office PowerPoint</Application>
  <PresentationFormat>Widescreen</PresentationFormat>
  <Paragraphs>92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Tahoma</vt:lpstr>
      <vt:lpstr>Verdana</vt:lpstr>
      <vt:lpstr>Wingdings</vt:lpstr>
      <vt:lpstr>Parcel</vt:lpstr>
      <vt:lpstr>CERES  THE DWARF PLANET</vt:lpstr>
      <vt:lpstr>CONTENTS:  </vt:lpstr>
      <vt:lpstr>INTRODUCTION TO CERES</vt:lpstr>
      <vt:lpstr>NAMESAKE</vt:lpstr>
      <vt:lpstr>POTENTIAL FOR LIFE</vt:lpstr>
      <vt:lpstr>SIZE AND DISTANCE</vt:lpstr>
      <vt:lpstr>ORBIT &amp; ROTATION</vt:lpstr>
      <vt:lpstr>CERES’  FORMATION AND STRUCTURE</vt:lpstr>
      <vt:lpstr>SURFACE, ATMOSPHERE &amp; MORE</vt:lpstr>
      <vt:lpstr>AMAZING FACTS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2025-08-25T16:19:01Z</dcterms:created>
  <dcterms:modified xsi:type="dcterms:W3CDTF">2025-08-26T05:42:45Z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